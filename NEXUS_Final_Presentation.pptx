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3A8A"/>
                </a:solidFill>
                <a:latin typeface="Arial"/>
              </a:defRPr>
            </a:pPr>
            <a:r>
              <a:t>RVS COLLEGE OF ENGINEERING AND TECHNOLOGY, JAMSHEDPUR</a:t>
            </a:r>
          </a:p>
          <a:p>
            <a:pPr algn="ctr">
              <a:spcBef>
                <a:spcPts val="400"/>
              </a:spcBef>
              <a:defRPr sz="1400" b="1">
                <a:solidFill>
                  <a:srgbClr val="64748B"/>
                </a:solidFill>
                <a:latin typeface="Arial"/>
              </a:defRPr>
            </a:pPr>
            <a:r>
              <a:t>DEPARTMENT OF COMPUTER SCIENCE AND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F172A"/>
                </a:solidFill>
                <a:latin typeface="Arial"/>
              </a:defRPr>
            </a:pPr>
            <a:r>
              <a:t>NEXUS:</a:t>
            </a:r>
          </a:p>
          <a:p>
            <a:pPr algn="ctr">
              <a:spcBef>
                <a:spcPts val="400"/>
              </a:spcBef>
              <a:defRPr sz="3600" b="1">
                <a:solidFill>
                  <a:srgbClr val="0EA5E9"/>
                </a:solidFill>
                <a:latin typeface="Arial"/>
              </a:defRPr>
            </a:pPr>
            <a:r>
              <a:t>AGENTIC AI OPERATING SYSTEM</a:t>
            </a:r>
          </a:p>
          <a:p>
            <a:pPr algn="ctr">
              <a:spcBef>
                <a:spcPts val="1000"/>
              </a:spcBef>
              <a:defRPr sz="1500">
                <a:solidFill>
                  <a:srgbClr val="334155"/>
                </a:solidFill>
                <a:latin typeface="Arial"/>
              </a:defRPr>
            </a:pPr>
            <a:r>
              <a:t>Bridging High-Level User Intent to Controlled, Observable &amp; Reversible Computer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97680"/>
            <a:ext cx="45720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434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Presented By: Group 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4754880"/>
            <a:ext cx="42062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Arial"/>
              </a:defRPr>
            </a:pPr>
            <a:r>
              <a:t>1. Pushkar Raj (CSE/073/23)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Arial"/>
              </a:defRPr>
            </a:pPr>
            <a:r>
              <a:t>2. Chandan Kr. Sah (CSE/074/23)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Arial"/>
              </a:defRPr>
            </a:pPr>
            <a:r>
              <a:t>3. Prince Tiwari (CSE/075/23)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Arial"/>
              </a:defRPr>
            </a:pPr>
            <a:r>
              <a:t>4. Shruti Kumari (CSE/076/23)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297680"/>
            <a:ext cx="45720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434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Under the Guidance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42062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Sulekh Kumar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Assistant Professor</a:t>
            </a:r>
            <a:br/>
            <a:r>
              <a:t>Department of Computer Science and Engineering</a:t>
            </a:r>
            <a:br/>
            <a:r>
              <a:t>RVSCET, Jamshedpur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Table of Contents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Comprehensive presentation roadmap across system design, engineering, and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01. Introduction &amp; Motivation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The shift from conversational chatbots to agentic operating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59152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3230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02. Problem Statement &amp; Objectives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Bridging the gap between AI reasoning and safe OS 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63824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3697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03. System Architecture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Dual-surface interaction, multi-layer decoupling, and trust enclaves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68496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4164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04. Execution Workflow &amp; Safety Pipeline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Intent analysis, DAG synthesis, air-gapped policy check, and diff approvals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73168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05. Multi-Agent Orchestration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Specialized agent roles, topological task graphs, and self-correction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5099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06. AI Models &amp; Multi-Provider Gateway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Gemini, Claude, GPT-4o, Ollama, and Pydantic v2 structured outputs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2763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07. Comprehensive Technology Stack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Next.js 14, Tauri/Rust, FastAPI, PostgreSQL/pgvector, Playwright, JXA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59152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3230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08. Policy Engine &amp; Trust Model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4-tier risk classification, capability catalog, and pre-execution snapshots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63824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23697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09. Reversibility &amp; 1-Click Rollback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SHA-256 state tracking, unified diff previews, and drift conflict prevention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968496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04164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10. Demerits &amp; System Limitations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Latency trade-offs, external API boundaries, and OS permission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773168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11. Future Scope &amp; Capstone Roadmap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Multimodal vision navigation, Linux/Windows parity, and hardware approvals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51206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65099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12. Conclusion &amp; Key Takeaways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The synthesis of capability, control, observability, and reversibility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Introduction &amp; Motivation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Transitioning from passive text generation to verified computer 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CORE PARADIGM: USER INTENT  ➔  PLANNING (DAG)  ➔  POLICY CHECK  ➔  ACTION  ➔  AUDIT &amp; ROLLBACK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12064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What is NEXUS?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Agentic AI Operating System: </a:t>
            </a:r>
            <a:r>
              <a:rPr b="0">
                <a:solidFill>
                  <a:srgbClr val="334155"/>
                </a:solidFill>
              </a:rPr>
              <a:t>An autonomous, multi-agent supervisory platform that executes real-world software and system tasks on behalf of the user.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Not a Chatbot or Wrapper: </a:t>
            </a:r>
            <a:r>
              <a:rPr b="0">
                <a:solidFill>
                  <a:srgbClr val="334155"/>
                </a:solidFill>
              </a:rPr>
              <a:t>Moves beyond web sandboxes to interact natively with terminals, file systems, browsers, and desktop software.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Strict Operational Constitution: </a:t>
            </a:r>
            <a:r>
              <a:rPr b="0">
                <a:solidFill>
                  <a:srgbClr val="334155"/>
                </a:solidFill>
              </a:rPr>
              <a:t>Guided by AGENTS.md: every action is observable, permission-aware, tamper-audited, and completely reversible.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Two Unified Interaction Surfaces: </a:t>
            </a:r>
            <a:r>
              <a:rPr b="0">
                <a:solidFill>
                  <a:srgbClr val="334155"/>
                </a:solidFill>
              </a:rPr>
              <a:t>NEXUS Dashboard (Next.js analytical cockpit) and NEXUS Ambient Layer (Tauri lightweight desktop overlay).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286000"/>
            <a:ext cx="512064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423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Why Traditional Approaches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Chatbots Stop at Text: </a:t>
            </a:r>
            <a:r>
              <a:rPr b="0">
                <a:solidFill>
                  <a:srgbClr val="334155"/>
                </a:solidFill>
              </a:rPr>
              <a:t>Models like ChatGPT can suggest code or terminal commands, but require manual copy-pasting, debugging, and verification.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Voice Assistants are Shallow: </a:t>
            </a:r>
            <a:r>
              <a:rPr b="0">
                <a:solidFill>
                  <a:srgbClr val="334155"/>
                </a:solidFill>
              </a:rPr>
              <a:t>Siri and Google Assistant rely on hardcoded intents (reminders, music). They cannot plan multi-step workflows or reason across tools.</a:t>
            </a:r>
          </a:p>
          <a:p>
            <a:pPr>
              <a:spcBef>
                <a:spcPts val="800"/>
              </a:spcBef>
              <a:defRPr sz="1200" b="1">
                <a:solidFill>
                  <a:srgbClr val="E11D48"/>
                </a:solidFill>
                <a:latin typeface="Arial"/>
              </a:defRPr>
            </a:pPr>
            <a:r>
              <a:t>• Unrestricted Agents are Hazardous: </a:t>
            </a:r>
            <a:r>
              <a:rPr b="0">
                <a:solidFill>
                  <a:srgbClr val="334155"/>
                </a:solidFill>
              </a:rPr>
              <a:t>Autonomous CLI scripts executing raw 'bash -c' risk catastrophic file loss, credential leaks, or silent runaway execution loops.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Lack of Reversibility &amp; Audit: </a:t>
            </a:r>
            <a:r>
              <a:rPr b="0">
                <a:solidFill>
                  <a:srgbClr val="334155"/>
                </a:solidFill>
              </a:rPr>
              <a:t>Existing AI agents provide zero rollback mechanisms. Once a file or database is mutated, recovery is nearly impossible.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Problem Statement &amp; Project Objectives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Closing the gap between probabilistic reasoning and deterministic OS control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The Problem: The Control &amp; Trust Deficit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 b="1">
                <a:solidFill>
                  <a:srgbClr val="E11D48"/>
                </a:solidFill>
                <a:latin typeface="Arial"/>
              </a:defRPr>
            </a:pPr>
            <a:r>
              <a:t>• Execution Disconnect: </a:t>
            </a:r>
            <a:r>
              <a:rPr b="0">
                <a:solidFill>
                  <a:srgbClr val="334155"/>
                </a:solidFill>
              </a:rPr>
              <a:t>Modern foundation models demonstrate human-level reasoning, yet remain isolated from the developer's execution environment.</a:t>
            </a:r>
          </a:p>
          <a:p>
            <a:pPr>
              <a:spcBef>
                <a:spcPts val="1000"/>
              </a:spcBef>
              <a:defRPr sz="1200" b="1">
                <a:solidFill>
                  <a:srgbClr val="E11D48"/>
                </a:solidFill>
                <a:latin typeface="Arial"/>
              </a:defRPr>
            </a:pPr>
            <a:r>
              <a:t>• Catastrophic Risk Profile: </a:t>
            </a:r>
            <a:r>
              <a:rPr b="0">
                <a:solidFill>
                  <a:srgbClr val="334155"/>
                </a:solidFill>
              </a:rPr>
              <a:t>Giving an LLM direct shell access creates an immediate threat of unintended deletions, syntax bugs, or privilege escalation.</a:t>
            </a:r>
          </a:p>
          <a:p>
            <a:pPr>
              <a:spcBef>
                <a:spcPts val="1000"/>
              </a:spcBef>
              <a:defRPr sz="1200" b="1">
                <a:solidFill>
                  <a:srgbClr val="E11D48"/>
                </a:solidFill>
                <a:latin typeface="Arial"/>
              </a:defRPr>
            </a:pPr>
            <a:r>
              <a:t>• Opaque Decision Making: </a:t>
            </a:r>
            <a:r>
              <a:rPr b="0">
                <a:solidFill>
                  <a:srgbClr val="334155"/>
                </a:solidFill>
              </a:rPr>
              <a:t>Users cannot inspect what an agent intends to do before it mutates state. Approvals are typically vague ('Allow tool?').</a:t>
            </a:r>
          </a:p>
          <a:p>
            <a:pPr>
              <a:spcBef>
                <a:spcPts val="1000"/>
              </a:spcBef>
              <a:defRPr sz="1200" b="1">
                <a:solidFill>
                  <a:srgbClr val="E11D48"/>
                </a:solidFill>
                <a:latin typeface="Arial"/>
              </a:defRPr>
            </a:pPr>
            <a:r>
              <a:t>• Irreversible Side-Effects: </a:t>
            </a:r>
            <a:r>
              <a:rPr b="0">
                <a:solidFill>
                  <a:srgbClr val="334155"/>
                </a:solidFill>
              </a:rPr>
              <a:t>No existing platform takes pre-execution snapshots or offers 1-click state reversion for mutating file/OS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The Objectives: The 4 Tenets of NEXUS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✔ Plan &amp; Decompose (DAG Engine): </a:t>
            </a:r>
            <a:r>
              <a:rPr b="0">
                <a:solidFill>
                  <a:srgbClr val="334155"/>
                </a:solidFill>
              </a:rPr>
              <a:t>Transform open-ended user requests into structured Directed Acyclic Graphs (DAGs) with explicit dependencies and self-correction.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✔ Govern Every Action (Policy Engine): </a:t>
            </a:r>
            <a:r>
              <a:rPr b="0">
                <a:solidFill>
                  <a:srgbClr val="334155"/>
                </a:solidFill>
              </a:rPr>
              <a:t>Enforce an air-gapped 4-Tier Risk Matrix (LOW, MEDIUM, HIGH, CRITICAL). No tool execution bypasses policy verification.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✔ Prove Before Mutating (HITL Diffs): </a:t>
            </a:r>
            <a:r>
              <a:rPr b="0">
                <a:solidFill>
                  <a:srgbClr val="334155"/>
                </a:solidFill>
              </a:rPr>
              <a:t>Generate git-style unified diffs in real-time approval modals before altering files, codebases, or configuration.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Arial"/>
              </a:defRPr>
            </a:pPr>
            <a:r>
              <a:t>✔ Guarantee Reversibility (Audit Ledger): </a:t>
            </a:r>
            <a:r>
              <a:rPr b="0">
                <a:solidFill>
                  <a:srgbClr val="334155"/>
                </a:solidFill>
              </a:rPr>
              <a:t>Capture pre-execution SHA-256 snapshots to enable 1-click state rollback while maintaining an append-only audit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System Architecture &amp; Security Boundaries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Strict multi-tier decoupling separating reasoning, governance, execution, and 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1. USER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Dual Client Layer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NEXUS Dashboard (Next.js 14 App Router, WebSockets)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NEXUS Ambient Layer (Tauri + Rust frameless HUD, Cmd+Shift+Space)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Voice Mode &amp; Real-time Anomaly Status Indicators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2. CORE API &amp;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3592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FastAPI Asynchronous Gateway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Async REST API &amp; bidirectional WebSocket event bus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Background Task Worker managing DAG lifecycles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Multi-tenant session isolation and JWT authentication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3. GOVERNANCE &amp;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504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Air-Gapped Trust Engine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Mandatory air-gap between reasoning agents and OS handles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4-Tier Risk Evaluator (LOW, MEDIUM, HIGH, CRITICAL)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Human-in-the-Loop (HITL) approval lock generation with live diffs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4. EXECUTION &amp;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3416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Controlled OS Tools &amp; Storage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Sandboxed Subprocess Runner (Directory isolation, buffer caps)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Playwright Persistent Browser &amp; Native macOS JXA / CoreGraphics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PostgreSQL + pgvector / SQLite fallback &amp; 5-Class Memory Taxonomy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AI Agent Safety &amp; Execution Workflow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The 6-step deterministic execution pipeline guaranteeing full accountability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1: Snapshot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Environment &amp; Memory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Captures pre-execution SHA-256 state of files and resources before any planned modification.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2: Policy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Risk Classification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Air-gapped PolicyEngine validates permissions, checks capability catalog, and evaluates risk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3: Human 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Unified Diff Preview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For HIGH/CRITICAL actions, surfaces interactive diff modal. Blocks execution until approved.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4: Controlled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Sandboxed Runners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Executes via isolated adapters: directory-jailed terminal, persistent Playwright, or macOS JXA.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6908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5: Verify &amp; Self-Heal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720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Post-Condition Invariants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Checks exit codes and outcomes. On failure, ErrorClassifier triggers dynamic DAG replanning.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6908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206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Step 6: Rollback /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5720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Append-Only Ledger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Commits immutable event log with token costs. Enables 1-click snapshot restoration if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Multi-Agent Orchestration &amp; Self-Correction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Specialized agent collaboration with Phase 15 dynamic error recovery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Specialized Multi-Agent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OrchestratorAgent: </a:t>
            </a:r>
            <a:r>
              <a:rPr b="0">
                <a:solidFill>
                  <a:srgbClr val="334155"/>
                </a:solidFill>
              </a:rPr>
              <a:t>Supervisor decomposing high-level user intent into structured tasks and delegating work.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PlanningAgent: </a:t>
            </a:r>
            <a:r>
              <a:rPr b="0">
                <a:solidFill>
                  <a:srgbClr val="334155"/>
                </a:solidFill>
              </a:rPr>
              <a:t>Synthesizes Directed Acyclic Graphs (DAGs) with topological execution ordering.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ResearchAgent: </a:t>
            </a:r>
            <a:r>
              <a:rPr b="0">
                <a:solidFill>
                  <a:srgbClr val="334155"/>
                </a:solidFill>
              </a:rPr>
              <a:t>Performs hybrid retrieval combining semantic vector similarity with Knowledge Graph traversals.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DocumentAgent: </a:t>
            </a:r>
            <a:r>
              <a:rPr b="0">
                <a:solidFill>
                  <a:srgbClr val="334155"/>
                </a:solidFill>
              </a:rPr>
              <a:t>Multi-format document ingestion, semantic chunking, and positional text parsing (PDF, MD, CSV, JSON).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ComputerAgent: </a:t>
            </a:r>
            <a:r>
              <a:rPr b="0">
                <a:solidFill>
                  <a:srgbClr val="334155"/>
                </a:solidFill>
              </a:rPr>
              <a:t>Interacts with OS tools, executes shell scripts safely, and navigates persistent browser sessions.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Phase 15: Autonomous Self-Healing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0EA5E9"/>
                </a:solidFill>
                <a:latin typeface="Arial"/>
              </a:defRPr>
            </a:pPr>
            <a:r>
              <a:t>✔ Deterministic ErrorClassifier: </a:t>
            </a:r>
            <a:r>
              <a:rPr b="0">
                <a:solidFill>
                  <a:srgbClr val="334155"/>
                </a:solidFill>
              </a:rPr>
              <a:t>Parses runtime exceptions into structured categories (TIMEOUT, SYNTAX_ERROR, COMMAND_NOT_FOUND, PERMISSION_DENIED).</a:t>
            </a:r>
          </a:p>
          <a:p>
            <a:pPr>
              <a:spcBef>
                <a:spcPts val="600"/>
              </a:spcBef>
              <a:defRPr sz="1200" b="1">
                <a:solidFill>
                  <a:srgbClr val="0EA5E9"/>
                </a:solidFill>
                <a:latin typeface="Arial"/>
              </a:defRPr>
            </a:pPr>
            <a:r>
              <a:t>✔ SelfCorrectionReflector: </a:t>
            </a:r>
            <a:r>
              <a:rPr b="0">
                <a:solidFill>
                  <a:srgbClr val="334155"/>
                </a:solidFill>
              </a:rPr>
              <a:t>Diagnoses root failure causes using structured LLM reasoning and generates targeted recovery proposals.</a:t>
            </a:r>
          </a:p>
          <a:p>
            <a:pPr>
              <a:spcBef>
                <a:spcPts val="600"/>
              </a:spcBef>
              <a:defRPr sz="1200" b="1">
                <a:solidFill>
                  <a:srgbClr val="0EA5E9"/>
                </a:solidFill>
                <a:latin typeface="Arial"/>
              </a:defRPr>
            </a:pPr>
            <a:r>
              <a:t>✔ DAGPatcher Subsystem: </a:t>
            </a:r>
            <a:r>
              <a:rPr b="0">
                <a:solidFill>
                  <a:srgbClr val="334155"/>
                </a:solidFill>
              </a:rPr>
              <a:t>Dynamically splices recovery steps into the active task graph while preserving upstream and downstream dependencies.</a:t>
            </a:r>
          </a:p>
          <a:p>
            <a:pPr>
              <a:spcBef>
                <a:spcPts val="600"/>
              </a:spcBef>
              <a:defRPr sz="1200" b="1">
                <a:solidFill>
                  <a:srgbClr val="0EA5E9"/>
                </a:solidFill>
                <a:latin typeface="Arial"/>
              </a:defRPr>
            </a:pPr>
            <a:r>
              <a:t>✔ Bounded Replan Budgets: </a:t>
            </a:r>
            <a:r>
              <a:rPr b="0">
                <a:solidFill>
                  <a:srgbClr val="334155"/>
                </a:solidFill>
              </a:rPr>
              <a:t>Strictly caps consecutive recovery attempts to eliminate runaway execution loops and excessive API costs.</a:t>
            </a:r>
          </a:p>
          <a:p>
            <a:pPr>
              <a:spcBef>
                <a:spcPts val="600"/>
              </a:spcBef>
              <a:defRPr sz="1200" b="1">
                <a:solidFill>
                  <a:srgbClr val="0EA5E9"/>
                </a:solidFill>
                <a:latin typeface="Arial"/>
              </a:defRPr>
            </a:pPr>
            <a:r>
              <a:t>✔ Automatic State Rollback: </a:t>
            </a:r>
            <a:r>
              <a:rPr b="0">
                <a:solidFill>
                  <a:srgbClr val="334155"/>
                </a:solidFill>
              </a:rPr>
              <a:t>If recovery cannot be achieved, rolls back modified workspace files to the pre-execution snapshot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AI Models Used &amp; The Multi-Provider Gateway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Provider-agnostic intelligence with strict Pydantic v2 schema enforcement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Google Gemini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gemini-1.5-pro / 2.0-flash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  <a:latin typeface="Arial"/>
              </a:defRPr>
            </a:pPr>
            <a:r>
              <a:t>Primary Reasoning &amp; Multimodal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Massive context window (up to 1M tokens)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Native multimodal ingestion of screenshots and documents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High token throughput with cost-efficient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Anthropic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3592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claude-3-5-sonnet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  <a:latin typeface="Arial"/>
              </a:defRPr>
            </a:pPr>
            <a:r>
              <a:t>Complex Planning &amp; Code Synthesis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Industry-leading task decomposition and DAG synthesis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High reliability in complex tool-use workflows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Exceptional adherence to negative system constraints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504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gpt-4o / o1 reasoning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  <a:latin typeface="Arial"/>
              </a:defRPr>
            </a:pPr>
            <a:r>
              <a:t>Mathematical &amp; Deterministic Logic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Advanced multi-step algorithmic validation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Strict JSON-schema mode conformance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Benchmarking and comparative ablation evaluations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Local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3416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Llama 3 / Mistral / DeepSeek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  <a:latin typeface="Arial"/>
              </a:defRPr>
            </a:pPr>
            <a:r>
              <a:t>Private &amp; Offline Execution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Zero cloud telemetry for sensitive enterprise data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Runs on local workstation hardware via Ollama REST API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Cost-free local development and offline fallback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Comprehensive Technology Stack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Modern, scalable full-stack ecosystem centered around a Python core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User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Next.js 14: </a:t>
            </a:r>
            <a:r>
              <a:rPr b="0" sz="1000">
                <a:solidFill>
                  <a:srgbClr val="334155"/>
                </a:solidFill>
              </a:rPr>
              <a:t>App Router web dashboard with server rendering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React 18 &amp; TS 5.4: </a:t>
            </a:r>
            <a:r>
              <a:rPr b="0" sz="1000">
                <a:solidFill>
                  <a:srgbClr val="334155"/>
                </a:solidFill>
              </a:rPr>
              <a:t>Component architecture with strict static typing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Tauri 1.5 (Rust): </a:t>
            </a:r>
            <a:r>
              <a:rPr b="0" sz="1000">
                <a:solidFill>
                  <a:srgbClr val="334155"/>
                </a:solidFill>
              </a:rPr>
              <a:t>Native desktop wrapper with global hotkeys (&lt;100ms)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Tailwind CSS: </a:t>
            </a:r>
            <a:r>
              <a:rPr b="0" sz="1000">
                <a:solidFill>
                  <a:srgbClr val="334155"/>
                </a:solidFill>
              </a:rPr>
              <a:t>Utility-first modern dark-mode &amp; glassmorphism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Lucide Icons: </a:t>
            </a:r>
            <a:r>
              <a:rPr b="0" sz="1000">
                <a:solidFill>
                  <a:srgbClr val="334155"/>
                </a:solidFill>
              </a:rPr>
              <a:t>Consistent SVG visual iconography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Backend &amp;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3592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Python 3.11+: </a:t>
            </a:r>
            <a:r>
              <a:rPr b="0" sz="1000">
                <a:solidFill>
                  <a:srgbClr val="334155"/>
                </a:solidFill>
              </a:rPr>
              <a:t>Asynchronous multi-agent execution pipeline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FastAPI: </a:t>
            </a:r>
            <a:r>
              <a:rPr b="0" sz="1000">
                <a:solidFill>
                  <a:srgbClr val="334155"/>
                </a:solidFill>
              </a:rPr>
              <a:t>High-performance async REST &amp; WebSocket routing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Pydantic v2: </a:t>
            </a:r>
            <a:r>
              <a:rPr b="0" sz="1000">
                <a:solidFill>
                  <a:srgbClr val="334155"/>
                </a:solidFill>
              </a:rPr>
              <a:t>Strict runtime data validation &amp; schema contracts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SQLAlchemy 2.0: </a:t>
            </a:r>
            <a:r>
              <a:rPr b="0" sz="1000">
                <a:solidFill>
                  <a:srgbClr val="334155"/>
                </a:solidFill>
              </a:rPr>
              <a:t>Asynchronous ORM with connection pooling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Alembic: </a:t>
            </a:r>
            <a:r>
              <a:rPr b="0" sz="1000">
                <a:solidFill>
                  <a:srgbClr val="334155"/>
                </a:solidFill>
              </a:rPr>
              <a:t>Dual-dialect database schema migrations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Data &amp;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504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PostgreSQL: </a:t>
            </a:r>
            <a:r>
              <a:rPr b="0" sz="1000">
                <a:solidFill>
                  <a:srgbClr val="334155"/>
                </a:solidFill>
              </a:rPr>
              <a:t>Relational persistence with ACID guarantees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pgvector: </a:t>
            </a:r>
            <a:r>
              <a:rPr b="0" sz="1000">
                <a:solidFill>
                  <a:srgbClr val="334155"/>
                </a:solidFill>
              </a:rPr>
              <a:t>High-dimensional vector embeddings for RAG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SQLite (WAL): </a:t>
            </a:r>
            <a:r>
              <a:rPr b="0" sz="1000">
                <a:solidFill>
                  <a:srgbClr val="334155"/>
                </a:solidFill>
              </a:rPr>
              <a:t>Zero-config local fallback with cosine dot product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Redis: </a:t>
            </a:r>
            <a:r>
              <a:rPr b="0" sz="1000">
                <a:solidFill>
                  <a:srgbClr val="334155"/>
                </a:solidFill>
              </a:rPr>
              <a:t>Background task queues &amp; distributed pub/sub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Knowledge Graph: </a:t>
            </a:r>
            <a:r>
              <a:rPr b="0" sz="1000">
                <a:solidFill>
                  <a:srgbClr val="334155"/>
                </a:solidFill>
              </a:rPr>
              <a:t>Recursive CTE relational traversal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OS &amp;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3416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Playwright: </a:t>
            </a:r>
            <a:r>
              <a:rPr b="0" sz="1000">
                <a:solidFill>
                  <a:srgbClr val="334155"/>
                </a:solidFill>
              </a:rPr>
              <a:t>Persistent Chromium automation behind SSRF guards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macOS JXA: </a:t>
            </a:r>
            <a:r>
              <a:rPr b="0" sz="1000">
                <a:solidFill>
                  <a:srgbClr val="334155"/>
                </a:solidFill>
              </a:rPr>
              <a:t>AppleScript/JXA UI element traversal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Quartz / CoreGraphics: </a:t>
            </a:r>
            <a:r>
              <a:rPr b="0" sz="1000">
                <a:solidFill>
                  <a:srgbClr val="334155"/>
                </a:solidFill>
              </a:rPr>
              <a:t>Native ctypes mouse &amp; keyboard event synthesis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Pytest: </a:t>
            </a:r>
            <a:r>
              <a:rPr b="0" sz="1000">
                <a:solidFill>
                  <a:srgbClr val="334155"/>
                </a:solidFill>
              </a:rPr>
              <a:t>213 automated unit and integration tests passing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Ruff &amp; Mypy: </a:t>
            </a:r>
            <a:r>
              <a:rPr b="0" sz="1000">
                <a:solidFill>
                  <a:srgbClr val="334155"/>
                </a:solidFill>
              </a:rPr>
              <a:t>Fast linting, formatting, and strict type checking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Policy Engine, Trust Model &amp; Reversibility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Governing agent actions through explicit risk tiers and 1-click state reversion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4-Tier Risk Matrix (Air-Gapped Governance)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LOW Risk (Autonomous): </a:t>
            </a:r>
            <a:r>
              <a:rPr b="0">
                <a:solidFill>
                  <a:srgbClr val="334155"/>
                </a:solidFill>
              </a:rPr>
              <a:t>Read-only operations, system metrics, file inspection, knowledge search. Executed autonomously without user interruption.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MEDIUM Risk (Session Grant): </a:t>
            </a:r>
            <a:r>
              <a:rPr b="0">
                <a:solidFill>
                  <a:srgbClr val="334155"/>
                </a:solidFill>
              </a:rPr>
              <a:t>Non-destructive actions, running local unit tests (pytest), temporary file writes. Authorized via session-scoped permission.</a:t>
            </a:r>
          </a:p>
          <a:p>
            <a:pPr>
              <a:spcBef>
                <a:spcPts val="800"/>
              </a:spcBef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HIGH Risk (Mandatory HITL): </a:t>
            </a:r>
            <a:r>
              <a:rPr b="0">
                <a:solidFill>
                  <a:srgbClr val="334155"/>
                </a:solidFill>
              </a:rPr>
              <a:t>Modifying project code, external browser clicks, native desktop control. Requires explicit user approval with git-style unified diff.</a:t>
            </a:r>
          </a:p>
          <a:p>
            <a:pPr>
              <a:spcBef>
                <a:spcPts val="800"/>
              </a:spcBef>
              <a:defRPr sz="1100" b="1">
                <a:solidFill>
                  <a:srgbClr val="E11D48"/>
                </a:solidFill>
                <a:latin typeface="Arial"/>
              </a:defRPr>
            </a:pPr>
            <a:r>
              <a:t>• CRITICAL Risk (Immediate Confirm): </a:t>
            </a:r>
            <a:r>
              <a:rPr b="0">
                <a:solidFill>
                  <a:srgbClr val="334155"/>
                </a:solidFill>
              </a:rPr>
              <a:t>Destructive deletions (rm -rf), dropping databases, modifying security keys. Direct immediate confirmation required; never cached.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Side-Effect Journaling &amp; 1-Click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✔ Pre-Execution SHA-256 Snapshots: </a:t>
            </a:r>
            <a:r>
              <a:rPr b="0">
                <a:solidFill>
                  <a:srgbClr val="334155"/>
                </a:solidFill>
              </a:rPr>
              <a:t>Before any tool modifies or deletes a file, an exact byte snapshot and checksum are recorded in the local snapshot store.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✔ Git-Style Unified Diff Previews: </a:t>
            </a:r>
            <a:r>
              <a:rPr b="0">
                <a:solidFill>
                  <a:srgbClr val="334155"/>
                </a:solidFill>
              </a:rPr>
              <a:t>Approval modals display exact line-by-line green additions and red deletions, ensuring zero ambiguity.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✔ State Drift Detection: </a:t>
            </a:r>
            <a:r>
              <a:rPr b="0">
                <a:solidFill>
                  <a:srgbClr val="334155"/>
                </a:solidFill>
              </a:rPr>
              <a:t>Prior to rolling back, NEXUS checks if the target file was modified externally. If a drift conflict occurs, reversion is halted safely.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✔ 1-Click Rollback Execution: </a:t>
            </a:r>
            <a:r>
              <a:rPr b="0">
                <a:solidFill>
                  <a:srgbClr val="334155"/>
                </a:solidFill>
              </a:rPr>
              <a:t>Users can reverse mutations instantly from the Dashboard Audit Ledger or Ambient HUD, cleanly restoring directory trees.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Arial"/>
              </a:defRPr>
            </a:pPr>
            <a:r>
              <a:t>✔ Immutable Audit Ledger: </a:t>
            </a:r>
            <a:r>
              <a:rPr b="0">
                <a:solidFill>
                  <a:srgbClr val="334155"/>
                </a:solidFill>
              </a:rPr>
              <a:t>Every user request, LLM plan, tool execution, and token cost is permanently saved to an append-only database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Demerits &amp; System Limitations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Academic transparency: Key trade-offs, engineering constraints, and boundary conditions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1. Multi-Step Execution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Arial"/>
              </a:defRPr>
            </a:pPr>
            <a:r>
              <a:t>Reasoning &amp; Coordination Overhead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Decomposing requests into DAGs and evaluating policy gates adds 1.5 - 3s latency compared to raw prompt chatbots.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Complex tasks requiring multi-turn LLM reflections can increase end-to-end execution time for time-sensitive tasks.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2. External Side-Effect Irreversibility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3592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Arial"/>
              </a:defRPr>
            </a:pPr>
            <a:r>
              <a:t>Network &amp; API Boundaries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Filesystem changes are 100% reversible via snapshots, but external network actions (sent emails, dispatched webhooks) cannot be undone.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Requires strict HIGH/CRITICAL policy classification to prevent accidental external dispatches.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3. OS Permission &amp; Platform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504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Arial"/>
              </a:defRPr>
            </a:pPr>
            <a:r>
              <a:t>macOS TCC &amp; Accessibility Gating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Native desktop control requires explicit macOS Accessibility (AXIsProcessTrusted) and Screen Recording TCC permissions.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Cross-platform parity on Windows and Linux currently requires containerized or virtualized subprocess adapters.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4. Web DOM &amp; UI Layout Drift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3416" y="219456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Arial"/>
              </a:defRPr>
            </a:pPr>
            <a:r>
              <a:t>Dynamic Web Application Fragility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Playwright browser automation can experience brittle selector matching if third-party web apps deploy sudden DOM changes.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Mitigated by combining text content matching with resilient accessibility tree element resolution.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Future Scope &amp; Engineering Roadmap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Advancing from a developer platform toward ubiquitous agentic computing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Phase 16: Academic Evaluation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Formal Benchmark Ablation Experiments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Comprehensive benchmark harness testing across software engineering, sysadmin, and research workflows.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Formal ablation studies: Baseline LLM vs. RAG vs. Memory-RAG vs. Full Agentic NEXUS.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Quantitative measurement of Task Success Rate, Latency, Cost Efficiency, and Safety Violation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Multimodal Computer Vision Navigation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14884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Vision-in-the-Loop Desktop Control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Expanding beyond accessibility trees to real-time multimodal screen perception.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Enables interaction with custom Canvas applications, legacy desktop GUIs, and interactive 3D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Full Cross-Platform OS Parity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Linux &amp; Windows Native Subsystems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Native Linux adapters via Wayland / X11 and D-Bus system bus integration.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Windows support via UI Automation APIs and sandboxed PowerShell execution wrappers.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206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Cryptographically Verified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5720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Hardware-Gated Security Architecture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Touch ID / WebAuthn hardware security keys to sign CRITICAL-tier policy approvals.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Zero-trust credential signing for production cloud deployments and irreversible operations.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Conclusion &amp; Key Takeaways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The synthesis of autonomous capability and uncompromised user safety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109728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E3A8A"/>
                </a:solidFill>
                <a:latin typeface="Arial"/>
              </a:defRPr>
            </a:pPr>
            <a:r>
              <a:t>“Give AI the ability to act — without giving up control.”</a:t>
            </a:r>
          </a:p>
          <a:p>
            <a:pPr algn="ctr">
              <a:spcBef>
                <a:spcPts val="400"/>
              </a:spcBef>
              <a:defRPr sz="1400" b="1">
                <a:solidFill>
                  <a:srgbClr val="0D9488"/>
                </a:solidFill>
                <a:latin typeface="Arial"/>
              </a:defRPr>
            </a:pPr>
            <a:r>
              <a:t>Capability  +  Control  +  Observability  +  Reversibility  =  Trustworthy Agentic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3832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Proven Engineering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15 completed development phases under a binding engineering constitution.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194 automated unit and integration tests passing across all subsystems.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Strict Pydantic v2 and TypeScript type safety with zero runtime mock bypasses.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3017520"/>
            <a:ext cx="33832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3154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True Agentic Operating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3566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Moves far beyond chatbots: natively operates terminals, browsers, and desktop software.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Employs dynamic DAG replanning and self-correction to recover from runtime failures.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Dual surfaces: Analytical Web Cockpit + Lightweight Ambient HUD.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3017520"/>
            <a:ext cx="33832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154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Safe by Architectural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3566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Air-gapped Policy Engine enforces 4-tier risk classification.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Git-style unified diffs eliminate ambiguity during human approval.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✔ 1-click snapshot restoration guarantees that user workspaces remain protected.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800" b="1">
                <a:solidFill>
                  <a:srgbClr val="0EA5E9"/>
                </a:solidFill>
                <a:latin typeface="Arial"/>
              </a:defRPr>
            </a:pPr>
            <a:r>
              <a:t>Questions &amp; Answers</a:t>
            </a:r>
          </a:p>
          <a:p>
            <a:pPr algn="ctr">
              <a:spcBef>
                <a:spcPts val="14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NEXUS: Agentic AI Operating System</a:t>
            </a:r>
            <a:br/>
            <a:r>
              <a:t>Department of Computer Science &amp; Engineering • RVSCET, Jamshedpur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5029200"/>
            <a:ext cx="7619695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5166360"/>
            <a:ext cx="72539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Group A5: Pushkar Raj (073) • Chandan Kr. Sah (074) • Prince Tiwari (075) • Shruti Kumari (076)</a:t>
            </a:r>
          </a:p>
          <a:p>
            <a:pPr algn="ctr"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Guide: Sulekh Kumar (Assistant Professor, CSE)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