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1_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36576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RVS COLLEGE OF ENGINEERING AND TECHNOLOGY, JAMSHEDPUR</a:t>
            </a:r>
          </a:p>
          <a:p>
            <a:pPr>
              <a:spcBef>
                <a:spcPts val="200"/>
              </a:spcBef>
              <a:defRPr sz="1300" b="1">
                <a:solidFill>
                  <a:srgbClr val="64748B"/>
                </a:solidFill>
                <a:latin typeface="Arial"/>
              </a:defRPr>
            </a:pPr>
            <a: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Arial"/>
              </a:defRPr>
            </a:pPr>
            <a:r>
              <a:t>NEXUS:</a:t>
            </a:r>
          </a:p>
          <a:p>
            <a:pPr algn="ctr">
              <a:spcBef>
                <a:spcPts val="200"/>
              </a:spcBef>
              <a:defRPr sz="3600" b="1">
                <a:solidFill>
                  <a:srgbClr val="0EA5E9"/>
                </a:solidFill>
                <a:latin typeface="Arial"/>
              </a:defRPr>
            </a:pPr>
            <a:r>
              <a:t>AGENTIC AI OPERATING SYSTEM</a:t>
            </a:r>
          </a:p>
          <a:p>
            <a:pPr algn="ctr">
              <a:spcBef>
                <a:spcPts val="1000"/>
              </a:spcBef>
              <a:defRPr sz="1500" b="1">
                <a:solidFill>
                  <a:srgbClr val="0D9488"/>
                </a:solidFill>
                <a:latin typeface="Arial"/>
              </a:defRPr>
            </a:pPr>
            <a:r>
              <a:t>User Intent  ➔  Autonomous Multi-Agent DAGs  ➔  Controlled Computer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297680"/>
            <a:ext cx="45720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4074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Presented By: Group A5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754880"/>
            <a:ext cx="42062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1. Pushkar Raj (CSE/073/23)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2. Chandan Kr. Sah (CSE/074/23)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3. Prince Tiwari (CSE/075/23)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4. Shruti Kumari (CSE/076/23)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45720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4074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Under the Guidance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00600"/>
            <a:ext cx="4206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Sulekh Kumar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Assistant Professor</a:t>
            </a:r>
            <a:br/>
            <a:r>
              <a:t>Dept. of Computer Science &amp; Engineering</a:t>
            </a:r>
            <a:br/>
            <a:r>
              <a:t>RVSCET, Jamshedpur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Table of Contents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Roadmap of today's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01. Introduction &amp; Problem Statement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Why chatbots fail and what NEXUS solves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02. System Architecture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Dual surfaces, FastAPI core &amp; decoupled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03. Pictorial Workflow &amp; Safety Pipeline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6-step execution &amp; human verification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04. Multi-Agent Orchestration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Specialist agents &amp; dynamic self-correction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05. Models Used in NEXUS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Multi-provider AI Gateway (Gemini, Claude, GPT-4o)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6304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06. Comprehensive Technology Stack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Next.js 14, Tauri, FastAPI, PostgreSQL, Playwright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2316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07. Policy Engine &amp; 1-Click Rollback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4-tier risk matrix &amp; SHA-256 snapshot 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8328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474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08. Demerits &amp; System Limitations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Key engineering constraints &amp; boundary conditions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4340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34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09. Future Scope &amp; Engineering Roadmap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Vision perception, cross-platform &amp; hardware keys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303520"/>
            <a:ext cx="51206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394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10. Conclusion &amp; Key Takeaways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Capability + Control + Observability + Reversibility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Introduction &amp; Problem Statement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Bridging the gap between AI reasoning and safe real-world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THE PARADIGM SHIFT: FROM CONVERSATIONAL CHATBOTS  ➔  TO ACTION-ORIENTED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The Problem: AI Can Think, But Who Controls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E11D48"/>
                </a:solidFill>
                <a:latin typeface="Arial"/>
              </a:defRPr>
            </a:pPr>
            <a:r>
              <a:t>✖ Chatbots Stop at Text: </a:t>
            </a:r>
            <a:r>
              <a:rPr b="0">
                <a:solidFill>
                  <a:srgbClr val="334155"/>
                </a:solidFill>
              </a:rPr>
              <a:t>Generate answers but cannot execute commands, run tests, or modify code.</a:t>
            </a:r>
          </a:p>
          <a:p>
            <a:pPr>
              <a:spcBef>
                <a:spcPts val="800"/>
              </a:spcBef>
              <a:defRPr sz="1200" b="1">
                <a:solidFill>
                  <a:srgbClr val="E11D48"/>
                </a:solidFill>
                <a:latin typeface="Arial"/>
              </a:defRPr>
            </a:pPr>
            <a:r>
              <a:t>✖ Voice Assistants are Shallow: </a:t>
            </a:r>
            <a:r>
              <a:rPr b="0">
                <a:solidFill>
                  <a:srgbClr val="334155"/>
                </a:solidFill>
              </a:rPr>
              <a:t>Siri/Alexa use hardcoded intent templates; zero multi-step planning or reasoning.</a:t>
            </a:r>
          </a:p>
          <a:p>
            <a:pPr>
              <a:spcBef>
                <a:spcPts val="800"/>
              </a:spcBef>
              <a:defRPr sz="1200" b="1">
                <a:solidFill>
                  <a:srgbClr val="E11D48"/>
                </a:solidFill>
                <a:latin typeface="Arial"/>
              </a:defRPr>
            </a:pPr>
            <a:r>
              <a:t>✖ Autonomous Scripts are Hazardous: </a:t>
            </a:r>
            <a:r>
              <a:rPr b="0">
                <a:solidFill>
                  <a:srgbClr val="334155"/>
                </a:solidFill>
              </a:rPr>
              <a:t>Unchecked shell scripts ('bash -c') risk catastrophic file loss and infinite loops.</a:t>
            </a:r>
          </a:p>
          <a:p>
            <a:pPr>
              <a:spcBef>
                <a:spcPts val="800"/>
              </a:spcBef>
              <a:defRPr sz="1200" b="1">
                <a:solidFill>
                  <a:srgbClr val="E11D48"/>
                </a:solidFill>
                <a:latin typeface="Arial"/>
              </a:defRPr>
            </a:pPr>
            <a:r>
              <a:t>✖ No Safety or Undo: </a:t>
            </a:r>
            <a:r>
              <a:rPr b="0">
                <a:solidFill>
                  <a:srgbClr val="334155"/>
                </a:solidFill>
              </a:rPr>
              <a:t>Traditional tools have no pre-execution snapshots or rollback mechanisms.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12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The Objective: What NEXUS Achieves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✔ Autonomous Planning: </a:t>
            </a:r>
            <a:r>
              <a:rPr b="0">
                <a:solidFill>
                  <a:srgbClr val="334155"/>
                </a:solidFill>
              </a:rPr>
              <a:t>Transforms natural language into structured Directed Acyclic Graphs (DAGs).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✔ Air-Gapped Policy Engine: </a:t>
            </a:r>
            <a:r>
              <a:rPr b="0">
                <a:solidFill>
                  <a:srgbClr val="334155"/>
                </a:solidFill>
              </a:rPr>
              <a:t>Every action is evaluated against a 4-Tier Risk Matrix (LOW to CRITICAL).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✔ Unified Diff Approvals: </a:t>
            </a:r>
            <a:r>
              <a:rPr b="0">
                <a:solidFill>
                  <a:srgbClr val="334155"/>
                </a:solidFill>
              </a:rPr>
              <a:t>Inspect exact line-by-line file changes before modifying any workspace files.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✔ 1-Click Rollback: </a:t>
            </a:r>
            <a:r>
              <a:rPr b="0">
                <a:solidFill>
                  <a:srgbClr val="334155"/>
                </a:solidFill>
              </a:rPr>
              <a:t>Pre-execution SHA-256 snapshots allow instant recovery if anything goes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System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Decoupled multi-tier design separating reasoning, governance, and execution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623560"/>
            <a:ext cx="10728655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CORE ARCHITECTURAL HIGHLIGHTS: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Dual Interaction Surfaces: Next.js 14 Dashboard (Web) + Tauri Rust Ambient HUD (Spotlight Overlay)</a:t>
            </a:r>
            <a:br/>
            <a:r>
              <a:t>• Air-Gapped Trust: Reasoning models have ZERO direct shell access; all operations pass through Policy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AI Agent Safety &amp; Execution Workflow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The 6-step deterministic pipeline: Snapshot ➔ Policy ➔ Approval ➔ Execution ➔ Verification ➔ Rollback</a:t>
            </a:r>
          </a:p>
        </p:txBody>
      </p:sp>
      <p:pic>
        <p:nvPicPr>
          <p:cNvPr id="4" name="Picture 3" descr="page_6_img_1_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623560"/>
            <a:ext cx="10728655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KEY WORKFLOW INVARIANTS: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1. Pre-execution snapshots capture SHA-256 hashes BEFORE mutation  |  2. Policy Engine halts on HIGH/CRITICAL actions</a:t>
            </a:r>
            <a:br/>
            <a:r>
              <a:t>3. Git-style unified diffs eliminate ambiguity  |  4. Invariant verification triggers dynamic replanning or 1-click rollback.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Multi-Agent Orchestration &amp; Self-Correction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Specialist agents collaborating via Directed Acyclic Graphs with Phase 15 self-healing</a:t>
            </a:r>
          </a:p>
        </p:txBody>
      </p:sp>
      <p:pic>
        <p:nvPicPr>
          <p:cNvPr id="4" name="Picture 3" descr="orchest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623560"/>
            <a:ext cx="10728655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AUTONOMOUS SELF-HEALING ENGINE (PHASE 15):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ErrorClassifier: Identifies runtime errors (TIMEOUT, SYNTAX_ERROR, COMMAND_NOT_FOUND)</a:t>
            </a:r>
            <a:br/>
            <a:r>
              <a:t>• DAGPatcher: Dynamically splices recovery steps into the active plan with strict replan budgets to avoid loops.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AI Models Used in NEXUS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Provider-agnostic intelligence unified behind Pydantic v2 structured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Google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gemini-1.5-pro / 2.0-flash</a:t>
            </a:r>
          </a:p>
          <a:p>
            <a:pPr>
              <a:spcAft>
                <a:spcPts val="80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Primary Reasoning &amp; Multimodal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1M+ token context window for full-repo indexing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Native screenshot and document vision analysis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Fastest token throughput for sub-second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5727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Anthropic 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19202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claude-3-5-sonnet</a:t>
            </a:r>
          </a:p>
          <a:p>
            <a:pPr>
              <a:spcAft>
                <a:spcPts val="80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Task Planning &amp; Code Synthesis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Top-tier DAG plan synthesis &amp; tool accuracy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Deep comprehension of negative constraints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Exceptional Python/TypeScript code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5727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OpenAI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9202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gpt-4o / o1 reasoning</a:t>
            </a:r>
          </a:p>
          <a:p>
            <a:pPr>
              <a:spcAft>
                <a:spcPts val="80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Mathematical &amp; Algorithmic Logic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Multi-step algorithmic verification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High reliability in JSON schema conformance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Comparative benchmark evaluation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46304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15727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Local / 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19202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Llama 3 / Mistral / DeepSeek</a:t>
            </a:r>
          </a:p>
          <a:p>
            <a:pPr>
              <a:spcAft>
                <a:spcPts val="80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Private &amp; Offline Execution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Zero cloud telemetry for sensitive corporate data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Runs on local workstation GPU/CPU</a:t>
            </a:r>
          </a:p>
          <a:p>
            <a:pPr>
              <a:spcBef>
                <a:spcPts val="5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Cost-free development and offline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10728655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STRUCTURED OUTPUT &amp; TOKEN LEDGER GUARANTEE: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Every model response is strictly parsed and validated against Pydantic v2 schemas—guaranteeing 0% JSON syntax failures.</a:t>
            </a:r>
            <a:br/>
            <a:r>
              <a:t>• Token &amp; Cost Ledger: Real-time calculation of input/output token costs across every execution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Technology Stack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Modern full-stack architecture built on a high-performance Python core</a:t>
            </a:r>
          </a:p>
        </p:txBody>
      </p:sp>
      <p:pic>
        <p:nvPicPr>
          <p:cNvPr id="4" name="Picture 3" descr="page_8_img_1_X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623560"/>
            <a:ext cx="10728655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FULL-STACK RIGOR &amp; AUTOMATION: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Frontend: Next.js 14, React 18, TypeScript 5.4, Tailwind CSS  |  Desktop: Tauri 1.5 (Rust core, &lt;100ms launch latency)</a:t>
            </a:r>
            <a:br/>
            <a:r>
              <a:t>• Backend: FastAPI, SQLAlchemy 2.0, Alembic, PostgreSQL + pgvector  |  Testing: 194 passing Pytest automated test suites.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Policy Engine &amp; 1-Click Rollback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Deterministic safety governance and instant state reversion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4-Tier Risk Matrix (Air-Gapped Governance)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LOW (Autonomous): </a:t>
            </a:r>
            <a:r>
              <a:rPr b="0">
                <a:solidFill>
                  <a:srgbClr val="334155"/>
                </a:solidFill>
              </a:rPr>
              <a:t>Read-only inspection, file reading, system metrics. Runs automatically without user interruption.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MEDIUM (Session Grant): </a:t>
            </a:r>
            <a:r>
              <a:rPr b="0">
                <a:solidFill>
                  <a:srgbClr val="334155"/>
                </a:solidFill>
              </a:rPr>
              <a:t>Non-destructive scripts, running pytest test suites. Authorized via session-scoped permission.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  <a:latin typeface="Arial"/>
              </a:defRPr>
            </a:pPr>
            <a:r>
              <a:t>• HIGH (Mandatory HITL): </a:t>
            </a:r>
            <a:r>
              <a:rPr b="0">
                <a:solidFill>
                  <a:srgbClr val="334155"/>
                </a:solidFill>
              </a:rPr>
              <a:t>Modifying project code, external browser clicks. Requires interactive git-style diff approval.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  <a:latin typeface="Arial"/>
              </a:defRPr>
            </a:pPr>
            <a:r>
              <a:t>• CRITICAL (Immediate Confirm): </a:t>
            </a:r>
            <a:r>
              <a:rPr b="0">
                <a:solidFill>
                  <a:srgbClr val="334155"/>
                </a:solidFill>
              </a:rPr>
              <a:t>Destructive deletes ('rm -rf'), dropping tables. Direct confirmation required; NEVER cached.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727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Reversibility &amp; 1-Click Rollback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Pre-Execution SHA-256 Snapshots: </a:t>
            </a:r>
            <a:r>
              <a:rPr b="0">
                <a:solidFill>
                  <a:srgbClr val="334155"/>
                </a:solidFill>
              </a:rPr>
              <a:t>Captures exact byte copies before any tool modifies or deletes a workspace file.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Live Unified Diff Previews: </a:t>
            </a:r>
            <a:r>
              <a:rPr b="0">
                <a:solidFill>
                  <a:srgbClr val="334155"/>
                </a:solidFill>
              </a:rPr>
              <a:t>Approval modals display exact green (+) additions and red (-) deletions.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State Drift Detection: </a:t>
            </a:r>
            <a:r>
              <a:rPr b="0">
                <a:solidFill>
                  <a:srgbClr val="334155"/>
                </a:solidFill>
              </a:rPr>
              <a:t>Halts rollback safely if target files were modified by an external process.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1-Click State Restoration: </a:t>
            </a:r>
            <a:r>
              <a:rPr b="0">
                <a:solidFill>
                  <a:srgbClr val="334155"/>
                </a:solidFill>
              </a:rPr>
              <a:t>Restores original file contents and directory structures cleanly with one click.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Append-Only Audit Ledger: </a:t>
            </a:r>
            <a:r>
              <a:rPr b="0">
                <a:solidFill>
                  <a:srgbClr val="334155"/>
                </a:solidFill>
              </a:rPr>
              <a:t>Every prompt, decision, tool run, and token cost is permanently saved to an immutable database 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Demerits &amp; System Limitations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Academic transparency: Key trade-offs and engineering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1. Multi-Step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11D48"/>
                </a:solidFill>
                <a:latin typeface="Arial"/>
              </a:defRPr>
            </a:pPr>
            <a:r>
              <a:t>Coordination Overhead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Decomposing tasks into DAGs and policy checks adds 1.5 - 3s latency compared to raw prompt chatbots.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Multi-turn self-reflection loops can increase end-to-end task execution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5727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2. External Irreversibility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11D48"/>
                </a:solidFill>
                <a:latin typeface="Arial"/>
              </a:defRPr>
            </a:pPr>
            <a:r>
              <a:t>Network &amp; API Boundaries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Filesystem mutations are 100% reversible; however, external network calls (sent emails, webhooks) cannot be undone.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Requires strict HIGH/CRITICAL classification for all external mutating calls.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5727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3. OS Platform Gating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11D48"/>
                </a:solidFill>
                <a:latin typeface="Arial"/>
              </a:defRPr>
            </a:pPr>
            <a:r>
              <a:t>Permissions &amp; Accessibility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Deep desktop control requires explicit macOS Accessibility (AXIsProcessTrusted) and Screen Recording permissions.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Cross-platform parity on Windows &amp; Linux requires containerized subprocess adapters.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46304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15727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4. Web DOM Layout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11D48"/>
                </a:solidFill>
                <a:latin typeface="Arial"/>
              </a:defRPr>
            </a:pPr>
            <a:r>
              <a:t>Browser Automation Fragility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Playwright browser automation can experience selector failures if third-party web apps deploy sudden UI changes.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Mitigated by combining text matching with accessibility tree resolution.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Future Scope &amp; Engineering Roadmap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Advancing toward ubiquitous, safe agentic computing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Phase 16: Academic Benchmark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Formal Ablation Experiments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Standardized benchmark test harness across software engineering, sysadmin, and research tasks.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Formal ablation studies: Baseline LLM vs. RAG vs. Memory-RAG vs. Full Agentic NEXUS.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Quantitative evaluation of Task Success Rate, Latency, Cost ($), and 0.0% Safety Violations.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727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Multimodal Vision Screen Perception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Vision-in-the-Loop Desktop Control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Expands beyond accessibility trees to real-time multimodal screen vision perception.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Enables navigation of custom HTML Canvas applications, legacy desktop GUIs, and CAD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Full Cross-Platform Parity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Linux &amp; Windows Native Subsystems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Linux integration via Wayland / X11 and native D-Bus system bus.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Windows support via UI Automation APIs and sandboxed PowerShell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416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Hardware-Gated Approvals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348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Cryptographic Touch ID / WebAuthn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Touch ID and WebAuthn hardware security keys to sign CRITICAL-tier actions.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• Eliminates stolen-session risks during production cloud deployments and irreversible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Conclusion &amp; Key Takeaways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The synthesis of autonomous capability and uncompromised user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3A8A"/>
                </a:solidFill>
                <a:latin typeface="Arial"/>
              </a:defRPr>
            </a:pPr>
            <a:r>
              <a:t>“Give AI the ability to act — without giving up control.”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0D9488"/>
                </a:solidFill>
                <a:latin typeface="Arial"/>
              </a:defRPr>
            </a:pPr>
            <a:r>
              <a:t>Capability  +  Control  +  Observability  +  Reversibility  =  Trustworthy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443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Proven Engineering Rigor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✔ 15 completed development phases backed by a formal constitution.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✔ 194 automated unit and integration tests passing.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✔ Strict Pydantic v2 and TypeScript static type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83464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9443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True Agentic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33832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✔ Beyond text generation: natively drives terminals, browsers, and desktop apps.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✔ Dynamic DAG replanning and self-correction to recover from failures.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✔ Dual surfaces: Analytical Web Cockpit + Lightweight Ambient HUD.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83464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29443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Safe by Architectural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33832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✔ Air-gapped Policy Engine enforcing 4-tier risk classification.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✔ Git-style unified diffs eliminate ambiguity during approvals.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Arial"/>
              </a:defRPr>
            </a:pPr>
            <a:r>
              <a:t>✔ 1-click snapshot restoration guarantees protected user workspaces.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800" b="1">
                <a:solidFill>
                  <a:srgbClr val="0EA5E9"/>
                </a:solidFill>
                <a:latin typeface="Arial"/>
              </a:defRPr>
            </a:pPr>
            <a:r>
              <a:t>Questions &amp; Answers</a:t>
            </a:r>
          </a:p>
          <a:p>
            <a:pPr algn="ctr">
              <a:spcBef>
                <a:spcPts val="1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NEXUS: Agentic AI Operating System</a:t>
            </a:r>
            <a:br/>
            <a:r>
              <a:t>Department of Computer Science &amp; Engineering • RVSCET, Jamshedpur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5029200"/>
            <a:ext cx="761969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5166360"/>
            <a:ext cx="72539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Group A5: Pushkar Raj (073) • Chandan Kr. Sah (074) • Prince Tiwari (075) • Shruti Kumari (076)</a:t>
            </a:r>
          </a:p>
          <a:p>
            <a:pPr algn="ctr"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Under the guidance of: Sulekh Kumar (Assistant Professor, CSE)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